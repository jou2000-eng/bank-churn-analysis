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320040" cy="6858000"/>
          </a:xfrm>
          <a:prstGeom prst="rect">
            <a:avLst/>
          </a:prstGeom>
          <a:solidFill>
            <a:srgbClr val="13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0"/>
            <a:ext cx="320040" cy="6858000"/>
          </a:xfrm>
          <a:prstGeom prst="rect">
            <a:avLst/>
          </a:prstGeom>
          <a:solidFill>
            <a:srgbClr val="13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81360" y="0"/>
            <a:ext cx="320040" cy="6858000"/>
          </a:xfrm>
          <a:prstGeom prst="rect">
            <a:avLst/>
          </a:prstGeom>
          <a:solidFill>
            <a:srgbClr val="13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B4A4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Bank Customer</a:t>
            </a:r>
            <a:br/>
            <a:r>
              <a:t>Churn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803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CF4"/>
                </a:solidFill>
                <a:latin typeface="Aptos"/>
              </a:defRPr>
            </a:pPr>
            <a:r>
              <a:t>Predicting customer attrition and identifying high-risk customers before they leave.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FBED0"/>
                </a:solidFill>
                <a:latin typeface="Aptos"/>
              </a:defRPr>
            </a:pPr>
            <a:r>
              <a:t>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988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EDA  •  Model Comparison  •  Random Forest  •  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2788920" cy="406908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234440"/>
            <a:ext cx="64008" cy="406908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1732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0136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0.862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50008"/>
            <a:ext cx="23774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Final ROC-AUC</a:t>
            </a:r>
            <a:br/>
            <a:r>
              <a:t>Tuned Random Forest</a:t>
            </a:r>
            <a:br/>
            <a:br/>
            <a:r>
              <a:t>10,000 customers</a:t>
            </a:r>
            <a:br/>
            <a:r>
              <a:t>End-to-end ML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80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FBED0"/>
                </a:solidFill>
                <a:latin typeface="Aptos"/>
              </a:defRPr>
            </a:pPr>
            <a:r>
              <a:t>Banking Analytics | Customer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The 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Customer churn is a business problem—not just a classification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337560" cy="333756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64008" cy="333756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72968"/>
            <a:ext cx="29260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When customers leave, the bank loses future revenue and the opportunity to build a long-term relationship.</a:t>
            </a:r>
            <a:br/>
            <a:br/>
            <a:r>
              <a:t>The goal is to identify customers with a higher probability of churn early enough to take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337560" cy="333756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57400"/>
            <a:ext cx="64008" cy="333756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72968"/>
            <a:ext cx="29260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Build a machine learning solution that predicts whether a customer is likely to leave the bank.</a:t>
            </a:r>
            <a:br/>
            <a:br/>
            <a:r>
              <a:t>The output can support retention campaigns, customer prioritization, and early-warning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337560" cy="333756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64008" cy="3337560"/>
          </a:xfrm>
          <a:prstGeom prst="rect">
            <a:avLst/>
          </a:prstGeom>
          <a:solidFill>
            <a:srgbClr val="3A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72968"/>
            <a:ext cx="29260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Evaluate multiple classification models using Accuracy, ROC-AUC, Recall, and F1-Score.</a:t>
            </a:r>
            <a:br/>
            <a:br/>
            <a:r>
              <a:t>Select a strong final model and deploy it through a simple Streamlit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DATA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Dataset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10,000 bank customers with demographic, financial, and engagement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5146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23444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5146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64008" cy="12344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011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Churn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5146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64008" cy="1234440"/>
          </a:xfrm>
          <a:prstGeom prst="rect">
            <a:avLst/>
          </a:prstGeom>
          <a:solidFill>
            <a:srgbClr val="3A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011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828800"/>
            <a:ext cx="25146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828800"/>
            <a:ext cx="6400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011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Core numerical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Credit score, age, tenure and balance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Number of products and estimated salary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Binary indicators: credit card and active 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Categorical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40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Country: France, Germany, Spain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Gender: Male, Female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Customer ID removed before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Understanding the Customer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Descriptive statistics were used to understand distributions, ranges, and potential data issues.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845602"/>
            <a:ext cx="7351775" cy="2309794"/>
          </a:xfrm>
          <a:prstGeom prst="rect">
            <a:avLst/>
          </a:prstGeom>
          <a:noFill/>
          <a:ln w="12700">
            <a:solidFill>
              <a:srgbClr val="3C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4 213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63890"/>
            <a:ext cx="7315200" cy="227321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1828800"/>
            <a:ext cx="3429000" cy="434340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64008" cy="434340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944368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• Average age ≈ 38.9 years</a:t>
            </a:r>
            <a:br/>
            <a:br/>
            <a:r>
              <a:t>• Churn rate ≈ 20%</a:t>
            </a:r>
            <a:br/>
            <a:br/>
            <a:r>
              <a:t>• Average balance ≈ 76.5K</a:t>
            </a:r>
            <a:br/>
            <a:br/>
            <a:r>
              <a:t>• Products: mostly 1–2 per customer</a:t>
            </a:r>
            <a:br/>
            <a:br/>
            <a:r>
              <a:t>• Salary shows a wide range, while credit score is centered around the mid-600s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Categorical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Country and gender distributions provide an initial view of the customer population.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" y="2140440"/>
            <a:ext cx="5157215" cy="2668558"/>
          </a:xfrm>
          <a:prstGeom prst="rect">
            <a:avLst/>
          </a:prstGeom>
          <a:noFill/>
          <a:ln w="12700">
            <a:solidFill>
              <a:srgbClr val="3C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4 213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58728"/>
            <a:ext cx="5120639" cy="26319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6480" y="1828800"/>
            <a:ext cx="5212080" cy="32918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64008" cy="32918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DATASET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944368"/>
            <a:ext cx="4800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Country:</a:t>
            </a:r>
            <a:br/>
            <a:r>
              <a:t>France is the largest group with 5,014 customers.</a:t>
            </a:r>
            <a:br/>
            <a:br/>
            <a:r>
              <a:t>Gender:</a:t>
            </a:r>
            <a:br/>
            <a:r>
              <a:t>Male customers are the larger group with 5,457 customers.</a:t>
            </a:r>
            <a:br/>
            <a:br/>
            <a:r>
              <a:t>These variables were retained because categorical differences can contribute to churn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440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ECF4"/>
                </a:solidFill>
                <a:latin typeface="Aptos"/>
              </a:defRPr>
            </a:pPr>
            <a:r>
              <a:t>EDA goal: understand the data first, then let the models learn patterns across multiple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Correlation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Pearson correlation highlights linear relationships between numerical variables and churn.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511334"/>
            <a:ext cx="7443215" cy="3069771"/>
          </a:xfrm>
          <a:prstGeom prst="rect">
            <a:avLst/>
          </a:prstGeom>
          <a:noFill/>
          <a:ln w="12700">
            <a:solidFill>
              <a:srgbClr val="3C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4 213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9622"/>
            <a:ext cx="7406640" cy="30331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83879" y="1828800"/>
            <a:ext cx="3383280" cy="43891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828800"/>
            <a:ext cx="64008" cy="438912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44368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Age has the strongest linear relationship with churn at about 0.29.</a:t>
            </a:r>
            <a:br/>
            <a:br/>
            <a:r>
              <a:t>Balance follows at about 0.12.</a:t>
            </a:r>
            <a:br/>
            <a:br/>
            <a:r>
              <a:t>Most other numerical variables have weak linear correlation with churn.</a:t>
            </a:r>
            <a:br/>
            <a:br/>
            <a:r>
              <a:t>This supports using a model capable of capturing non-linear and interaction effects.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From Baseline to Model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Six classification models were evaluated on the same train/test setup and preprocessing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29000" cy="1645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64592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0.849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ROC-AUC  •  0.849</a:t>
            </a:r>
            <a:br/>
            <a:r>
              <a:t>Recall  •  0.455    F1  •  0.576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429000" cy="1645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64008" cy="1645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Extra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95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0.840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443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ROC-AUC  •  0.840</a:t>
            </a:r>
            <a:br/>
            <a:r>
              <a:t>Recall  •  0.415    F1  •  0.537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429000" cy="1645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64008" cy="1645920"/>
          </a:xfrm>
          <a:prstGeom prst="rect">
            <a:avLst/>
          </a:prstGeom>
          <a:solidFill>
            <a:srgbClr val="3A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395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0.828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9443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ROC-AUC  •  0.828</a:t>
            </a:r>
            <a:br/>
            <a:r>
              <a:t>Recall  •  0.386    F1  •  0.528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3429000" cy="1645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886200"/>
            <a:ext cx="64008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531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0.775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017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ROC-AUC  •  0.775</a:t>
            </a:r>
            <a:br/>
            <a:r>
              <a:t>Recall  •  0.187    F1  •  0.284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886200"/>
            <a:ext cx="3429000" cy="1645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886200"/>
            <a:ext cx="64008" cy="1645920"/>
          </a:xfrm>
          <a:prstGeom prst="rect">
            <a:avLst/>
          </a:prstGeom>
          <a:solidFill>
            <a:srgbClr val="A4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4531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0.763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0017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ROC-AUC  •  0.763</a:t>
            </a:r>
            <a:br/>
            <a:r>
              <a:t>Recall  •  0.369    F1  •  0.480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886200"/>
            <a:ext cx="3429000" cy="1645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886200"/>
            <a:ext cx="64008" cy="1645920"/>
          </a:xfrm>
          <a:prstGeom prst="rect">
            <a:avLst/>
          </a:prstGeom>
          <a:solidFill>
            <a:srgbClr val="E5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4531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0.679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50017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ROC-AUC  •  0.679</a:t>
            </a:r>
            <a:br/>
            <a:r>
              <a:t>Recall  •  0.506    F1  •  0.486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B4A4"/>
                </a:solidFill>
                <a:latin typeface="Aptos"/>
              </a:defRPr>
            </a:pPr>
            <a:r>
              <a:t>Decision: Random Forest showed the strongest overall discrimination and was selected for tuning.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Random Forest — Baseline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The baseline Random Forest substantially improved churn detection compared with Logistic Regression.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2785708"/>
            <a:ext cx="6620256" cy="2383862"/>
          </a:xfrm>
          <a:prstGeom prst="rect">
            <a:avLst/>
          </a:prstGeom>
          <a:noFill/>
          <a:ln w="12700">
            <a:solidFill>
              <a:srgbClr val="3C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4 2136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03996"/>
            <a:ext cx="6583680" cy="23472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0920" y="1828800"/>
            <a:ext cx="192024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828800"/>
            <a:ext cx="64008" cy="123444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0116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9572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1828800"/>
            <a:ext cx="192024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1828800"/>
            <a:ext cx="64008" cy="12344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0116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39572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0.849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3383280"/>
            <a:ext cx="192024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3383280"/>
            <a:ext cx="6400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566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CHURN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95020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45%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383280"/>
            <a:ext cx="192024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4040" y="3383280"/>
            <a:ext cx="64008" cy="1234440"/>
          </a:xfrm>
          <a:prstGeom prst="rect">
            <a:avLst/>
          </a:prstGeom>
          <a:solidFill>
            <a:srgbClr val="3A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566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CHURN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95020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0.57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937760"/>
            <a:ext cx="4023360" cy="11887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4937760"/>
            <a:ext cx="64008" cy="118872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51206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CONFUSION MATRIX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6053328"/>
            <a:ext cx="36118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185 churners were correctly identified, while 222 actual churners were missed.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MODEL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Hyperparameter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GridSearchCV was used to search for a stronger Random Forest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246120" cy="3931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93192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SEARCH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28346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Random Forest hyperparameters were tested across multiple combinations.</a:t>
            </a:r>
            <a:br/>
            <a:br/>
            <a:r>
              <a:t>5-fold cross-validation was used with ROC-AUC as the optimization metric.</a:t>
            </a:r>
            <a:br/>
            <a:br/>
            <a:r>
              <a:t>The best configuration was then evaluated on the untouched test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828800"/>
            <a:ext cx="3246120" cy="3931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828800"/>
            <a:ext cx="64008" cy="3931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WHAT IMPROVED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44368"/>
            <a:ext cx="28346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Baseline ROC-AUC</a:t>
            </a:r>
            <a:br/>
            <a:r>
              <a:t>0.849</a:t>
            </a:r>
            <a:br/>
            <a:br/>
            <a:r>
              <a:t>Tuned ROC-AUC</a:t>
            </a:r>
            <a:br/>
            <a:r>
              <a:t>0.862</a:t>
            </a:r>
            <a:br/>
            <a:br/>
            <a:r>
              <a:t>Churn precision</a:t>
            </a:r>
            <a:br/>
            <a:r>
              <a:t>0.78 → 0.81</a:t>
            </a:r>
            <a:br/>
            <a:br/>
            <a:r>
              <a:t>The improvement is modest but meaningful.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28800"/>
            <a:ext cx="3611880" cy="39319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828800"/>
            <a:ext cx="64008" cy="3931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IMPORTANT TRADE-OFF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944368"/>
            <a:ext cx="32004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Churn recall moved from 45% to 43%.</a:t>
            </a:r>
            <a:br/>
            <a:br/>
            <a:r>
              <a:t>This shows why model selection should consider several metrics—not ROC-AUC or accuracy alone.</a:t>
            </a:r>
            <a:br/>
            <a:br/>
            <a:r>
              <a:t>For a bank, missed churners are particularly important.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FINAL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Tuned Random Forest — Final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The tuned pipeline became the final model used for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573772"/>
            <a:ext cx="6163056" cy="2762015"/>
          </a:xfrm>
          <a:prstGeom prst="rect">
            <a:avLst/>
          </a:prstGeom>
          <a:noFill/>
          <a:ln w="12700">
            <a:solidFill>
              <a:srgbClr val="3C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4 213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92060"/>
            <a:ext cx="6126480" cy="27254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40880" y="1828800"/>
            <a:ext cx="20574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1828800"/>
            <a:ext cx="64008" cy="123444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3957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0.862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828800"/>
            <a:ext cx="20574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81160" y="1828800"/>
            <a:ext cx="64008" cy="12344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3957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383280"/>
            <a:ext cx="20574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3383280"/>
            <a:ext cx="64008" cy="1234440"/>
          </a:xfrm>
          <a:prstGeom prst="rect">
            <a:avLst/>
          </a:prstGeom>
          <a:solidFill>
            <a:srgbClr val="3A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9502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81%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3383280"/>
            <a:ext cx="20574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3383280"/>
            <a:ext cx="6400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9502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t>43%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937760"/>
            <a:ext cx="4297680" cy="11887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4937760"/>
            <a:ext cx="64008" cy="118872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1206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6053328"/>
            <a:ext cx="388620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Good overall discrimination with a clear opportunity for future recall/threshold optimization.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From Model to Usable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The trained pipeline was deployed as an interactive Streamlit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757646"/>
            <a:ext cx="5705856" cy="4622867"/>
          </a:xfrm>
          <a:prstGeom prst="rect">
            <a:avLst/>
          </a:prstGeom>
          <a:noFill/>
          <a:ln w="12700">
            <a:solidFill>
              <a:srgbClr val="3C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4 214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5934"/>
            <a:ext cx="5669280" cy="45862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828800"/>
            <a:ext cx="493776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64008" cy="123444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0116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44368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Customer profile: credit score, country, gender, age, tenure, balance, products, card, activity, salary.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337560"/>
            <a:ext cx="493776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3337560"/>
            <a:ext cx="64008" cy="12344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5204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53128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The saved machine learning pipeline generates a churn class and churn probability.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846320"/>
            <a:ext cx="493776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4846320"/>
            <a:ext cx="64008" cy="1234440"/>
          </a:xfrm>
          <a:prstGeom prst="rect">
            <a:avLst/>
          </a:prstGeom>
          <a:solidFill>
            <a:srgbClr val="3A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50292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961888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Low Risk / High Risk of Churn + probability percentage for quick interpretation.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685800" cy="50292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1089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ED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FBED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What the Project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D0"/>
                </a:solidFill>
                <a:latin typeface="Aptos"/>
              </a:defRPr>
            </a:pPr>
            <a:r>
              <a:t>An end-to-end customer churn workflow—from raw data to a deployable prediction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337560" cy="34747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474720"/>
          </a:xfrm>
          <a:prstGeom prst="rect">
            <a:avLst/>
          </a:prstGeom>
          <a:solidFill>
            <a:srgbClr val="1C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01 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2926079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EDA showed that churn is influenced by multiple customer characteristics, with age standing out in the linear correlation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337560" cy="34747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64008" cy="34747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02 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44368"/>
            <a:ext cx="2926079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Multiple classifiers were compared. Random Forest achieved the strongest baseline performance and was optimized using GridSearchCV.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337560" cy="3474720"/>
          </a:xfrm>
          <a:prstGeom prst="roundRect">
            <a:avLst/>
          </a:prstGeom>
          <a:solidFill>
            <a:srgbClr val="192F4F"/>
          </a:solidFill>
          <a:ln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64008" cy="3474720"/>
          </a:xfrm>
          <a:prstGeom prst="rect">
            <a:avLst/>
          </a:prstGeom>
          <a:solidFill>
            <a:srgbClr val="3A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BED0"/>
                </a:solidFill>
                <a:latin typeface="Aptos"/>
              </a:defRPr>
            </a:pPr>
            <a:r>
              <a:t>03 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44368"/>
            <a:ext cx="2926079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5ECF4"/>
                </a:solidFill>
                <a:latin typeface="Aptos"/>
              </a:defRPr>
            </a:pPr>
            <a:r>
              <a:t>The final tuned pipeline was saved and integrated into a Streamlit application for real-time customer-level predictions.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Next step: improve churn recall through threshold tuning, class balancing, and targeted retention strategies.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FBED0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